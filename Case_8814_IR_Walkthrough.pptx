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screenshot /mnt/data/Screenshot 2026-03-09 001956.png showing event ID 8814, phishing type, and medium severity.
- User-provided screenshot /mnt/data/Screenshot 2026-03-09 002013.png showing final incident classification and remediation rationale.
- User-provided screenshot /mnt/data/Screenshot 2026-03-09 002032.png showing correlated SIEM events for hrconnex.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screenshot /mnt/data/Screenshot 2026-03-09 001956.png for the alert trigger and phishing classification context.
- User-provided screenshot /mnt/data/Screenshot 2026-03-09 002013.png for the true-positive decision, no-click finding, and remediation recommendations.
- User-provided screenshot /mnt/data/Screenshot 2026-03-09 002032.png for the SIEM correlation findings.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screenshot /mnt/data/Screenshot 2026-03-09 001956.png and cropped derivative /mnt/data/case_report_crop.png showing event ID 8814, the phishing alert metadata, and full alert details with sender, recipient, subject, direction, and URL.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screenshot /mnt/data/Screenshot 2026-03-09 002032.png and cropped derivative /mnt/data/siem_search_crop.png showing a search for hrconnex with 3 events, including the inbound phishing email and a related internal onboarding email.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screenshot /mnt/data/Screenshot 2026-03-09 002045.png and cropped derivative /mnt/data/source_popup_crop.png showing source statistics with a single value, eventcollector, across 100% of the events.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screenshot /mnt/data/Screenshot 2026-03-09 002101.png and cropped derivative /mnt/data/sourcetype_popup_crop.png showing sourcetype statistics with a single value, _json, across 100% of the events.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screenshot /mnt/data/Screenshot 2026-03-09 002013.png and cropped derivative /mnt/data/incident_report_crop.png showing true-positive classification, no observed compromise, escalation rationale, and remediation actions.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IOC and procedure summary compiled from user-provided screenshots /mnt/data/Screenshot 2026-03-09 001956.png, /mnt/data/Screenshot 2026-03-09 002013.png, /mnt/data/Screenshot 2026-03-09 002032.png, /mnt/data/Screenshot 2026-03-09 002045.png, and /mnt/data/Screenshot 2026-03-09 002101.png.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7F247"/>
          </a:solidFill>
          <a:ln w="12700">
            <a:solidFill>
              <a:srgbClr val="B7F24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04320" y="320040"/>
            <a:ext cx="109728" cy="6217920"/>
          </a:xfrm>
          <a:prstGeom prst="rect">
            <a:avLst/>
          </a:prstGeom>
          <a:solidFill>
            <a:srgbClr val="1B2745">
              <a:alpha val="65000"/>
            </a:srgbClr>
          </a:solidFill>
          <a:ln w="12700">
            <a:solidFill>
              <a:srgbClr val="1B274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4282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89A8"/>
                </a:solidFill>
              </a:rPr>
              <a:t>Case 8814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F4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8814 incident response walkthrough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94944" y="8961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A0AAC4"/>
                </a:solidFill>
              </a:rPr>
              <a:t>How you investigated the phishing ticket, validated the evidence, and documented the closure.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04088" y="157276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F247"/>
                </a:solidFill>
              </a:rPr>
              <a:t>OVERVIEW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04088" y="1810512"/>
            <a:ext cx="5715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4F7FF"/>
                </a:solidFill>
              </a:rPr>
              <a:t>This deck reconstructs the investigation strictly from the screenshots you provided. It shows the exact workflow: alert review, IOC extraction, SIEM pivoting, log validation, final classification, escalation rationale, and remediation.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04088" y="324612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192540"/>
          </a:solidFill>
          <a:ln w="15240">
            <a:solidFill>
              <a:srgbClr val="2B3A61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351129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F"/>
                </a:solidFill>
              </a:rPr>
              <a:t>Rule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4F7FF"/>
                </a:solidFill>
              </a:rPr>
              <a:t>Inbound Email Containing Suspicious External Link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834640" y="3246120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192540"/>
          </a:solidFill>
          <a:ln w="15240">
            <a:solidFill>
              <a:srgbClr val="2B3A61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54096" y="351129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F"/>
                </a:solidFill>
              </a:rPr>
              <a:t>Type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4F7FF"/>
                </a:solidFill>
              </a:rPr>
              <a:t>Phishing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89120" y="3246120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192540"/>
          </a:solidFill>
          <a:ln w="15240">
            <a:solidFill>
              <a:srgbClr val="2B3A61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99432" y="351129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F"/>
                </a:solidFill>
              </a:rPr>
              <a:t>Severity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4F7FF"/>
                </a:solidFill>
              </a:rPr>
              <a:t>Medium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0" y="324612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192540"/>
          </a:solidFill>
          <a:ln w="15240">
            <a:solidFill>
              <a:srgbClr val="2B3A61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63056" y="351129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F"/>
                </a:solidFill>
              </a:rPr>
              <a:t>Disposition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4F7FF"/>
                </a:solidFill>
              </a:rPr>
              <a:t>True positive phishing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4088" y="4736592"/>
            <a:ext cx="5303520" cy="0"/>
          </a:xfrm>
          <a:prstGeom prst="line">
            <a:avLst/>
          </a:prstGeom>
          <a:noFill/>
          <a:ln w="12700">
            <a:solidFill>
              <a:srgbClr val="2B3A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48737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F247"/>
                </a:solidFill>
              </a:rPr>
              <a:t>OUTCOME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4088" y="512064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F4F7FF"/>
                </a:solidFill>
              </a:rPr>
              <a:t>• Confirmed the message was delivered to the user mailbox.</a:t>
            </a:r>
            <a:endParaRPr lang="en-US" sz="1750" dirty="0"/>
          </a:p>
          <a:p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F4F7FF"/>
                </a:solidFill>
              </a:rPr>
              <a:t>• Found no evidence that the link was clicked or that a host was compromised.</a:t>
            </a:r>
            <a:endParaRPr lang="en-US" sz="1750" dirty="0"/>
          </a:p>
          <a:p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F4F7FF"/>
                </a:solidFill>
              </a:rPr>
              <a:t>• Recommended blocking the domain, removing the message, notifying the user, and filtering the sender.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832104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7F247"/>
                </a:solidFill>
              </a:rPr>
              <a:t>Event ID 8814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21040" y="1993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AC4"/>
                </a:solidFill>
              </a:rPr>
              <a:t>Prepared from case screenshots only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21040" y="2423160"/>
            <a:ext cx="2377440" cy="0"/>
          </a:xfrm>
          <a:prstGeom prst="line">
            <a:avLst/>
          </a:prstGeom>
          <a:noFill/>
          <a:ln w="27940">
            <a:solidFill>
              <a:srgbClr val="B7F2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F"/>
                </a:solidFill>
              </a:rPr>
              <a:t>Investigation flow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21040" y="3063240"/>
            <a:ext cx="3108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7FF"/>
                </a:solidFill>
              </a:rPr>
              <a:t>• Triage alert record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4F7FF"/>
                </a:solidFill>
              </a:rPr>
              <a:t>• Extract IOCs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4F7FF"/>
                </a:solidFill>
              </a:rPr>
              <a:t>• Pivot in SIEM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4F7FF"/>
                </a:solidFill>
              </a:rPr>
              <a:t>• Validate log lineage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4F7FF"/>
                </a:solidFill>
              </a:rPr>
              <a:t>• Assess impact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4F7FF"/>
                </a:solidFill>
              </a:rPr>
              <a:t>• Write report and close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F4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Bottom line: why the ticket was solved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94944" y="8961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A0AAC4"/>
                </a:solidFill>
              </a:rPr>
              <a:t>The investigation separated confirmed phishing delivery from unconfirmed downstream compromise.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04088" y="157276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F247"/>
                </a:solidFill>
              </a:rPr>
              <a:t>KEY FINDINGS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04088" y="1810512"/>
            <a:ext cx="57150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4F7FF"/>
                </a:solidFill>
              </a:rPr>
              <a:t>• The trigger was legitimate: the case report tied the alert to an inbound email with a suspicious external link and explicitly described a phishing scenario.</a:t>
            </a:r>
            <a:endParaRPr lang="en-US" sz="1720" dirty="0"/>
          </a:p>
          <a:p>
            <a:pPr indent="0" marL="0">
              <a:buNone/>
            </a:pPr>
            <a:endParaRPr lang="en-US" sz="1720" dirty="0"/>
          </a:p>
          <a:p>
            <a:pPr indent="0" marL="0">
              <a:buNone/>
            </a:pPr>
            <a:r>
              <a:rPr lang="en-US" sz="1720" dirty="0">
                <a:solidFill>
                  <a:srgbClr val="F4F7FF"/>
                </a:solidFill>
              </a:rPr>
              <a:t>• The lure was concrete and actionable: onboarding pretext, account setup language, and a direct hyperlink to hrconnex.thm.</a:t>
            </a:r>
            <a:endParaRPr lang="en-US" sz="1720" dirty="0"/>
          </a:p>
          <a:p>
            <a:pPr indent="0" marL="0">
              <a:buNone/>
            </a:pPr>
            <a:endParaRPr lang="en-US" sz="1720" dirty="0"/>
          </a:p>
          <a:p>
            <a:pPr indent="0" marL="0">
              <a:buNone/>
            </a:pPr>
            <a:r>
              <a:rPr lang="en-US" sz="1720" dirty="0">
                <a:solidFill>
                  <a:srgbClr val="F4F7FF"/>
                </a:solidFill>
              </a:rPr>
              <a:t>• Your SIEM pivot showed the message existed in the mail telemetry and also uncovered a related internal onboarding thread that made the lure believable.</a:t>
            </a:r>
            <a:endParaRPr lang="en-US" sz="1720" dirty="0"/>
          </a:p>
          <a:p>
            <a:pPr indent="0" marL="0">
              <a:buNone/>
            </a:pPr>
            <a:endParaRPr lang="en-US" sz="1720" dirty="0"/>
          </a:p>
          <a:p>
            <a:pPr indent="0" marL="0">
              <a:buNone/>
            </a:pPr>
            <a:r>
              <a:rPr lang="en-US" sz="1720" dirty="0">
                <a:solidFill>
                  <a:srgbClr val="F4F7FF"/>
                </a:solidFill>
              </a:rPr>
              <a:t>• The final incident note recorded that no proxy, firewall, or DNS evidence showed user access to the link, so there was no identified compromised endpoint.</a:t>
            </a:r>
            <a:endParaRPr lang="en-US" sz="1720" dirty="0"/>
          </a:p>
          <a:p>
            <a:pPr indent="0" marL="0">
              <a:buNone/>
            </a:pPr>
            <a:endParaRPr lang="en-US" sz="1720" dirty="0"/>
          </a:p>
          <a:p>
            <a:pPr indent="0" marL="0">
              <a:buNone/>
            </a:pPr>
            <a:r>
              <a:rPr lang="en-US" sz="1720" dirty="0">
                <a:solidFill>
                  <a:srgbClr val="F4F7FF"/>
                </a:solidFill>
              </a:rPr>
              <a:t>• Because delivery was confirmed, the event was still handled as a true positive phishing incident and not dismissed as noise.</a:t>
            </a:r>
            <a:endParaRPr lang="en-US" sz="1720" dirty="0"/>
          </a:p>
        </p:txBody>
      </p:sp>
      <p:sp>
        <p:nvSpPr>
          <p:cNvPr id="6" name="Shape 4"/>
          <p:cNvSpPr/>
          <p:nvPr/>
        </p:nvSpPr>
        <p:spPr>
          <a:xfrm>
            <a:off x="6812280" y="1609344"/>
            <a:ext cx="4663440" cy="4526280"/>
          </a:xfrm>
          <a:prstGeom prst="roundRect">
            <a:avLst>
              <a:gd name="adj" fmla="val 1616"/>
            </a:avLst>
          </a:prstGeom>
          <a:solidFill>
            <a:srgbClr val="0F1A33"/>
          </a:solidFill>
          <a:ln w="15240">
            <a:solidFill>
              <a:srgbClr val="2B3A61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0" y="18470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F247"/>
                </a:solidFill>
              </a:rPr>
              <a:t>DECISION LOGIC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068312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B7F247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406640" y="21762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4F7FF"/>
                </a:solidFill>
              </a:rPr>
              <a:t>Email with suspicious external link was confirmed in telemetry.</a:t>
            </a:r>
            <a:endParaRPr lang="en-US" sz="1720" dirty="0"/>
          </a:p>
        </p:txBody>
      </p:sp>
      <p:sp>
        <p:nvSpPr>
          <p:cNvPr id="10" name="Text 8"/>
          <p:cNvSpPr/>
          <p:nvPr/>
        </p:nvSpPr>
        <p:spPr>
          <a:xfrm>
            <a:off x="7068312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B7F247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406640" y="28163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4F7FF"/>
                </a:solidFill>
              </a:rPr>
              <a:t>Message was delivered to the intended recipient, so the phishing risk was real.</a:t>
            </a:r>
            <a:endParaRPr lang="en-US" sz="1720" dirty="0"/>
          </a:p>
        </p:txBody>
      </p:sp>
      <p:sp>
        <p:nvSpPr>
          <p:cNvPr id="12" name="Text 10"/>
          <p:cNvSpPr/>
          <p:nvPr/>
        </p:nvSpPr>
        <p:spPr>
          <a:xfrm>
            <a:off x="7068312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B7F247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406640" y="354787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4F7FF"/>
                </a:solidFill>
              </a:rPr>
              <a:t>No supporting logs showed link access, which limited the impact to exposure rather than compromise.</a:t>
            </a:r>
            <a:endParaRPr lang="en-US" sz="1720" dirty="0"/>
          </a:p>
        </p:txBody>
      </p:sp>
      <p:sp>
        <p:nvSpPr>
          <p:cNvPr id="14" name="Text 12"/>
          <p:cNvSpPr/>
          <p:nvPr/>
        </p:nvSpPr>
        <p:spPr>
          <a:xfrm>
            <a:off x="7068312" y="4507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B7F247"/>
                </a:solidFill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406640" y="444398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4F7FF"/>
                </a:solidFill>
              </a:rPr>
              <a:t>You closed the ticket with a true-positive phishing disposition plus containment recommendations.</a:t>
            </a:r>
            <a:endParaRPr lang="en-US" sz="1720" dirty="0"/>
          </a:p>
        </p:txBody>
      </p:sp>
      <p:sp>
        <p:nvSpPr>
          <p:cNvPr id="16" name="Shape 14"/>
          <p:cNvSpPr/>
          <p:nvPr/>
        </p:nvSpPr>
        <p:spPr>
          <a:xfrm>
            <a:off x="7059168" y="5422392"/>
            <a:ext cx="3931920" cy="0"/>
          </a:xfrm>
          <a:prstGeom prst="line">
            <a:avLst/>
          </a:prstGeom>
          <a:noFill/>
          <a:ln w="12700">
            <a:solidFill>
              <a:srgbClr val="2B3A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555955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A0AAC4"/>
                </a:solidFill>
              </a:rPr>
              <a:t>Practical resolution: stop future delivery, remove residual copies, and notify the user while preserving the finding that no endpoint was affected.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F4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 — validate the alert context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94944" y="8961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A0AAC4"/>
                </a:solidFill>
              </a:rPr>
              <a:t>You started by grounding the investigation in the case metadata and the raw email details.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04088" y="157276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F247"/>
                </a:solidFill>
              </a:rPr>
              <a:t>WHAT YOU DID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04088" y="1810512"/>
            <a:ext cx="45262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30" dirty="0">
                <a:solidFill>
                  <a:srgbClr val="F4F7FF"/>
                </a:solidFill>
              </a:rPr>
              <a:t>• Opened event ID 8814 and captured the alert rule, incident type, severity, and reported detection time.</a:t>
            </a:r>
            <a:endParaRPr lang="en-US" sz="1630" dirty="0"/>
          </a:p>
          <a:p>
            <a:pPr indent="0" marL="0">
              <a:buNone/>
            </a:pP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F4F7FF"/>
                </a:solidFill>
              </a:rPr>
              <a:t>• Read the rule description to understand the expected workflow: review the suspicious link and determine whether any endpoint attempted to access it via firewall or proxy evidence.</a:t>
            </a:r>
            <a:endParaRPr lang="en-US" sz="1630" dirty="0"/>
          </a:p>
          <a:p>
            <a:pPr indent="0" marL="0">
              <a:buNone/>
            </a:pP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F4F7FF"/>
                </a:solidFill>
              </a:rPr>
              <a:t>• Expanded Alert details and recorded the message fields: datasource email, inbound direction, recipient j.garcia@thetrydaily.thm, sender onboarding@hrconnex.thm, and subject “Action Required: Finalize Your Onboarding Profile.”</a:t>
            </a:r>
            <a:endParaRPr lang="en-US" sz="1630" dirty="0"/>
          </a:p>
          <a:p>
            <a:pPr indent="0" marL="0">
              <a:buNone/>
            </a:pP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F4F7FF"/>
                </a:solidFill>
              </a:rPr>
              <a:t>• Extracted the embedded URL from the body: https://hrconnex.thm/onboarding/15400654060/j.garcia, establishing the first IOC set before pivoting anywhere else.</a:t>
            </a:r>
            <a:endParaRPr lang="en-US" sz="1630" dirty="0"/>
          </a:p>
        </p:txBody>
      </p:sp>
      <p:sp>
        <p:nvSpPr>
          <p:cNvPr id="6" name="Shape 4"/>
          <p:cNvSpPr/>
          <p:nvPr/>
        </p:nvSpPr>
        <p:spPr>
          <a:xfrm>
            <a:off x="5486400" y="1572768"/>
            <a:ext cx="5989320" cy="4069080"/>
          </a:xfrm>
          <a:prstGeom prst="roundRect">
            <a:avLst>
              <a:gd name="adj" fmla="val 1798"/>
            </a:avLst>
          </a:prstGeom>
          <a:solidFill>
            <a:srgbClr val="0F1A33"/>
          </a:solidFill>
          <a:ln w="15240">
            <a:solidFill>
              <a:srgbClr val="2B3A61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data/case_report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552" y="2181072"/>
            <a:ext cx="5843016" cy="2724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14416" y="5468112"/>
            <a:ext cx="5733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A0AAC4"/>
                </a:solidFill>
              </a:rPr>
              <a:t>Matched evidence: case report and expanded alert details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F4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 — pivot in SIEM on hrconnex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94944" y="8961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A0AAC4"/>
                </a:solidFill>
              </a:rPr>
              <a:t>The domain search tied the alert to live telemetry and uncovered supporting context.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04088" y="14813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F247"/>
                </a:solidFill>
              </a:rPr>
              <a:t>WHAT YOU DID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04088" y="1709928"/>
            <a:ext cx="4160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F4F7FF"/>
                </a:solidFill>
              </a:rPr>
              <a:t>• Ran a SIEM search for hrconnex and confirmed 3 matching events.</a:t>
            </a:r>
            <a:endParaRPr lang="en-US" sz="1580" dirty="0"/>
          </a:p>
          <a:p>
            <a:pPr indent="0" marL="0">
              <a:buNone/>
            </a:pP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F4F7FF"/>
                </a:solidFill>
              </a:rPr>
              <a:t>• Matched the inbound email event back to the original case: same sender, same recipient, same subject, same direction, and same phishing link.</a:t>
            </a:r>
            <a:endParaRPr lang="en-US" sz="1580" dirty="0"/>
          </a:p>
          <a:p>
            <a:pPr indent="0" marL="0">
              <a:buNone/>
            </a:pP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F4F7FF"/>
                </a:solidFill>
              </a:rPr>
              <a:t>• Captured the host value 10.10.156.209:8989 from the event view, preserving another useful technical artifact from the telemetry path.</a:t>
            </a:r>
            <a:endParaRPr lang="en-US" sz="1580" dirty="0"/>
          </a:p>
          <a:p>
            <a:pPr indent="0" marL="0">
              <a:buNone/>
            </a:pP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F4F7FF"/>
                </a:solidFill>
              </a:rPr>
              <a:t>• Reviewed the related internal email from h.harris@thetrydaily.thm to j.carter@thetrydaily.thm with subject “Unable to Receive Onboarding Email from hrconnex.thm.” That message showed why the lure was persuasive: the onboarding scenario was already in circulation internally.</a:t>
            </a:r>
            <a:endParaRPr lang="en-US" sz="1580" dirty="0"/>
          </a:p>
        </p:txBody>
      </p:sp>
      <p:sp>
        <p:nvSpPr>
          <p:cNvPr id="6" name="Text 4"/>
          <p:cNvSpPr/>
          <p:nvPr/>
        </p:nvSpPr>
        <p:spPr>
          <a:xfrm>
            <a:off x="704088" y="43342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B7F247"/>
                </a:solidFill>
              </a:rPr>
              <a:t>Interpretation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04088" y="4590288"/>
            <a:ext cx="43159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A0AAC4"/>
                </a:solidFill>
              </a:rPr>
              <a:t>The domain search did more than confirm the phish. It also explained the social-engineering hook by showing an internal business process touching the same third-party name.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74920" y="1353312"/>
            <a:ext cx="6400800" cy="4892040"/>
          </a:xfrm>
          <a:prstGeom prst="roundRect">
            <a:avLst>
              <a:gd name="adj" fmla="val 1495"/>
            </a:avLst>
          </a:prstGeom>
          <a:solidFill>
            <a:srgbClr val="0F1A33"/>
          </a:solidFill>
          <a:ln w="15240">
            <a:solidFill>
              <a:srgbClr val="2B3A61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mnt/data/siem_search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8072" y="2360374"/>
            <a:ext cx="6254496" cy="274990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02936" y="6071616"/>
            <a:ext cx="6144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A0AAC4"/>
                </a:solidFill>
              </a:rPr>
              <a:t>Matched evidence: SIEM query for hrconnex returned 3 correlated events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F4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 — verify source consistency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94944" y="8961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A0AAC4"/>
                </a:solidFill>
              </a:rPr>
              <a:t>You checked whether the correlated events came from the same collection path.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04088" y="157276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F247"/>
                </a:solidFill>
              </a:rPr>
              <a:t>WHAT YOU DID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04088" y="1810512"/>
            <a:ext cx="47548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4F7FF"/>
                </a:solidFill>
              </a:rPr>
              <a:t>• Opened the field statistics for source directly from the SIEM result set.</a:t>
            </a:r>
            <a:endParaRPr lang="en-US" sz="1650" dirty="0"/>
          </a:p>
          <a:p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F4F7FF"/>
                </a:solidFill>
              </a:rPr>
              <a:t>• Confirmed that all returned events shared the same value: source = eventcollector.</a:t>
            </a:r>
            <a:endParaRPr lang="en-US" sz="1650" dirty="0"/>
          </a:p>
          <a:p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F4F7FF"/>
                </a:solidFill>
              </a:rPr>
              <a:t>• Used that consistency check to reduce ambiguity; the three events were not coming from mixed or unrelated log pipelines.</a:t>
            </a:r>
            <a:endParaRPr lang="en-US" sz="1650" dirty="0"/>
          </a:p>
          <a:p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F4F7FF"/>
                </a:solidFill>
              </a:rPr>
              <a:t>• This strengthened confidence that the correlation was valid and that the same telemetry source was describing the phishing activity and the related context email.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806440" y="1600200"/>
            <a:ext cx="5349240" cy="3703320"/>
          </a:xfrm>
          <a:prstGeom prst="roundRect">
            <a:avLst>
              <a:gd name="adj" fmla="val 1975"/>
            </a:avLst>
          </a:prstGeom>
          <a:solidFill>
            <a:srgbClr val="0F1A33"/>
          </a:solidFill>
          <a:ln w="15240">
            <a:solidFill>
              <a:srgbClr val="2B3A61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data/source_popup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6050" y="1673352"/>
            <a:ext cx="4550019" cy="3429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34456" y="5129784"/>
            <a:ext cx="5093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A0AAC4"/>
                </a:solidFill>
              </a:rPr>
              <a:t>Matched evidence: source field = eventcollector for 100% of returned events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F4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 — verify sourcetype and field parsing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94944" y="8961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A0AAC4"/>
                </a:solidFill>
              </a:rPr>
              <a:t>You repeated the integrity check at the sourcetype level to make the extracted fields trustworthy.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04088" y="157276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F247"/>
                </a:solidFill>
              </a:rPr>
              <a:t>WHAT YOU DID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04088" y="1810512"/>
            <a:ext cx="47548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4F7FF"/>
                </a:solidFill>
              </a:rPr>
              <a:t>• Opened the field statistics for sourcetype on the same result set.</a:t>
            </a:r>
            <a:endParaRPr lang="en-US" sz="1650" dirty="0"/>
          </a:p>
          <a:p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F4F7FF"/>
                </a:solidFill>
              </a:rPr>
              <a:t>• Confirmed that all correlated events had sourcetype = _json.</a:t>
            </a:r>
            <a:endParaRPr lang="en-US" sz="1650" dirty="0"/>
          </a:p>
          <a:p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F4F7FF"/>
                </a:solidFill>
              </a:rPr>
              <a:t>• Used that consistency to support the reliability of the parsed fields you were using in the investigation: sender, recipient, subject, timestamp, datasource, and direction.</a:t>
            </a:r>
            <a:endParaRPr lang="en-US" sz="1650" dirty="0"/>
          </a:p>
          <a:p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F4F7FF"/>
                </a:solidFill>
              </a:rPr>
              <a:t>• By validating both source and sourcetype, you documented that the IOC extraction and the message-to-message comparison were based on a stable parsing path.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806440" y="1600200"/>
            <a:ext cx="5349240" cy="3703320"/>
          </a:xfrm>
          <a:prstGeom prst="roundRect">
            <a:avLst>
              <a:gd name="adj" fmla="val 1975"/>
            </a:avLst>
          </a:prstGeom>
          <a:solidFill>
            <a:srgbClr val="0F1A33"/>
          </a:solidFill>
          <a:ln w="15240">
            <a:solidFill>
              <a:srgbClr val="2B3A61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data/sourcetype_popup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6050" y="1673352"/>
            <a:ext cx="4550019" cy="3429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34456" y="5129784"/>
            <a:ext cx="5093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A0AAC4"/>
                </a:solidFill>
              </a:rPr>
              <a:t>Matched evidence: sourcetype = _json for 100% of returned events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F4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5 — classify, escalate, and close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94944" y="8961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A0AAC4"/>
                </a:solidFill>
              </a:rPr>
              <a:t>The final write-up captured both the confirmed risk and the absence of downstream compromise.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04088" y="157276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F247"/>
                </a:solidFill>
              </a:rPr>
              <a:t>WHAT YOU RECORDED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04088" y="1810512"/>
            <a:ext cx="45262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F4F7FF"/>
                </a:solidFill>
              </a:rPr>
              <a:t>• Time of activity: 3/9/26 3:53:39.471 AM, aligning the reporting with the SIEM event timeline.</a:t>
            </a:r>
            <a:endParaRPr lang="en-US" sz="1580" dirty="0"/>
          </a:p>
          <a:p>
            <a:pPr indent="0" marL="0">
              <a:buNone/>
            </a:pP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F4F7FF"/>
                </a:solidFill>
              </a:rPr>
              <a:t>• Incident classification: True positive.</a:t>
            </a:r>
            <a:endParaRPr lang="en-US" sz="1580" dirty="0"/>
          </a:p>
          <a:p>
            <a:pPr indent="0" marL="0">
              <a:buNone/>
            </a:pP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F4F7FF"/>
                </a:solidFill>
              </a:rPr>
              <a:t>• Affected entities: none identified, because no evidence of compromise was observed and no proxy, firewall, or DNS logs showed link access by the user.</a:t>
            </a:r>
            <a:endParaRPr lang="en-US" sz="1580" dirty="0"/>
          </a:p>
          <a:p>
            <a:pPr indent="0" marL="0">
              <a:buNone/>
            </a:pP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F4F7FF"/>
                </a:solidFill>
              </a:rPr>
              <a:t>• Escalation rationale: the email was confirmed as delivered to the user, so the phishing exposure was real even without a click event.</a:t>
            </a:r>
            <a:endParaRPr lang="en-US" sz="1580" dirty="0"/>
          </a:p>
          <a:p>
            <a:pPr indent="0" marL="0">
              <a:buNone/>
            </a:pP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F4F7FF"/>
                </a:solidFill>
              </a:rPr>
              <a:t>• Remediation actions: block hrconnex.thm on firewall and proxy, remove the email from other mailbox locations, notify the targeted user, and add the sender to filters to prevent future delivery.</a:t>
            </a:r>
            <a:endParaRPr lang="en-US" sz="1580" dirty="0"/>
          </a:p>
        </p:txBody>
      </p:sp>
      <p:sp>
        <p:nvSpPr>
          <p:cNvPr id="6" name="Shape 4"/>
          <p:cNvSpPr/>
          <p:nvPr/>
        </p:nvSpPr>
        <p:spPr>
          <a:xfrm>
            <a:off x="5440680" y="1444752"/>
            <a:ext cx="5989320" cy="4800600"/>
          </a:xfrm>
          <a:prstGeom prst="roundRect">
            <a:avLst>
              <a:gd name="adj" fmla="val 1524"/>
            </a:avLst>
          </a:prstGeom>
          <a:solidFill>
            <a:srgbClr val="0F1A33"/>
          </a:solidFill>
          <a:ln w="15240">
            <a:solidFill>
              <a:srgbClr val="2B3A61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data/incident_report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3832" y="2335775"/>
            <a:ext cx="5843016" cy="28905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68696" y="6071616"/>
            <a:ext cx="5733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A0AAC4"/>
                </a:solidFill>
              </a:rPr>
              <a:t>Matched evidence: incident report with true-positive classification and remediation plan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F4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IOC inventory and response procedure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94944" y="8961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A0AAC4"/>
                </a:solidFill>
              </a:rPr>
              <a:t>This is the complete artifact list and the end-to-end method you used to solve the ticket.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04088" y="160020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0F1A33"/>
          </a:solidFill>
          <a:ln w="15240">
            <a:solidFill>
              <a:srgbClr val="2B3A61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0" y="160020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0F1A33"/>
          </a:solidFill>
          <a:ln w="15240">
            <a:solidFill>
              <a:srgbClr val="2B3A61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470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F247"/>
                </a:solidFill>
              </a:rPr>
              <a:t>INDICATORS OF COMPROMISE / EVIDENCE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4892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4F7FF"/>
                </a:solidFill>
              </a:rPr>
              <a:t>Primary domain: hrconnex.thm</a:t>
            </a:r>
            <a:endParaRPr lang="en-US" sz="1440" dirty="0"/>
          </a:p>
          <a:p>
            <a:pPr indent="0" marL="0">
              <a:buNone/>
            </a:pP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F4F7FF"/>
                </a:solidFill>
              </a:rPr>
              <a:t>Full URL: https://hrconnex.thm/onboarding/15400654060/j.garcia</a:t>
            </a:r>
            <a:endParaRPr lang="en-US" sz="1440" dirty="0"/>
          </a:p>
          <a:p>
            <a:pPr indent="0" marL="0">
              <a:buNone/>
            </a:pP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F4F7FF"/>
                </a:solidFill>
              </a:rPr>
              <a:t>Sender: onboarding@hrconnex.thm</a:t>
            </a:r>
            <a:endParaRPr lang="en-US" sz="1440" dirty="0"/>
          </a:p>
          <a:p>
            <a:pPr indent="0" marL="0">
              <a:buNone/>
            </a:pP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F4F7FF"/>
                </a:solidFill>
              </a:rPr>
              <a:t>Targeted recipient: j.garcia@thetrydaily.thm</a:t>
            </a:r>
            <a:endParaRPr lang="en-US" sz="1440" dirty="0"/>
          </a:p>
          <a:p>
            <a:pPr indent="0" marL="0">
              <a:buNone/>
            </a:pP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F4F7FF"/>
                </a:solidFill>
              </a:rPr>
              <a:t>Subject: Action Required: Finalize Your Onboarding Profile</a:t>
            </a:r>
            <a:endParaRPr lang="en-US" sz="1440" dirty="0"/>
          </a:p>
          <a:p>
            <a:pPr indent="0" marL="0">
              <a:buNone/>
            </a:pP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F4F7FF"/>
                </a:solidFill>
              </a:rPr>
              <a:t>Message direction: inbound</a:t>
            </a:r>
            <a:endParaRPr lang="en-US" sz="1440" dirty="0"/>
          </a:p>
          <a:p>
            <a:pPr indent="0" marL="0">
              <a:buNone/>
            </a:pP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F4F7FF"/>
                </a:solidFill>
              </a:rPr>
              <a:t>Datasource: email</a:t>
            </a:r>
            <a:endParaRPr lang="en-US" sz="1440" dirty="0"/>
          </a:p>
          <a:p>
            <a:pPr indent="0" marL="0">
              <a:buNone/>
            </a:pP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F4F7FF"/>
                </a:solidFill>
              </a:rPr>
              <a:t>Telemetry host seen in SIEM: 10.10.156.209:8989</a:t>
            </a:r>
            <a:endParaRPr lang="en-US" sz="1440" dirty="0"/>
          </a:p>
          <a:p>
            <a:pPr indent="0" marL="0">
              <a:buNone/>
            </a:pP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F4F7FF"/>
                </a:solidFill>
              </a:rPr>
              <a:t>Shared source: eventcollector</a:t>
            </a:r>
            <a:endParaRPr lang="en-US" sz="1440" dirty="0"/>
          </a:p>
          <a:p>
            <a:pPr indent="0" marL="0">
              <a:buNone/>
            </a:pP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F4F7FF"/>
                </a:solidFill>
              </a:rPr>
              <a:t>Shared sourcetype: _json</a:t>
            </a:r>
            <a:endParaRPr lang="en-US" sz="1440" dirty="0"/>
          </a:p>
          <a:p>
            <a:pPr indent="0" marL="0">
              <a:buNone/>
            </a:pP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F4F7FF"/>
                </a:solidFill>
              </a:rPr>
              <a:t>Related context email: h.harris@thetrydaily.thm → j.carter@thetrydaily.thm</a:t>
            </a: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F4F7FF"/>
                </a:solidFill>
              </a:rPr>
              <a:t>Subject: Unable to Receive Onboarding Email from hrconnex.thm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6428232" y="184708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F247"/>
                </a:solidFill>
              </a:rPr>
              <a:t>STEP-BY-STEP PROCEDURE YOU FOLLOWED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28232" y="210312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4F7FF"/>
                </a:solidFill>
              </a:rPr>
              <a:t>1. Open the case and record alert ID, rule name, severity, incident type, and timestamps.</a:t>
            </a:r>
            <a:endParaRPr lang="en-US" sz="1440" dirty="0"/>
          </a:p>
          <a:p>
            <a:pPr indent="0" marL="0">
              <a:buNone/>
            </a:pP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F4F7FF"/>
                </a:solidFill>
              </a:rPr>
              <a:t>2. Expand the alert payload and extract sender, recipient, subject, direction, and full URL.</a:t>
            </a:r>
            <a:endParaRPr lang="en-US" sz="1440" dirty="0"/>
          </a:p>
          <a:p>
            <a:pPr indent="0" marL="0">
              <a:buNone/>
            </a:pP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F4F7FF"/>
                </a:solidFill>
              </a:rPr>
              <a:t>3. Search the suspicious domain in SIEM to find all correlated events.</a:t>
            </a:r>
            <a:endParaRPr lang="en-US" sz="1440" dirty="0"/>
          </a:p>
          <a:p>
            <a:pPr indent="0" marL="0">
              <a:buNone/>
            </a:pP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F4F7FF"/>
                </a:solidFill>
              </a:rPr>
              <a:t>4. Match the phishing event back to the case and capture any related business-context messages.</a:t>
            </a:r>
            <a:endParaRPr lang="en-US" sz="1440" dirty="0"/>
          </a:p>
          <a:p>
            <a:pPr indent="0" marL="0">
              <a:buNone/>
            </a:pP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F4F7FF"/>
                </a:solidFill>
              </a:rPr>
              <a:t>5. Validate source and sourcetype so the event set is coming from a consistent telemetry pipeline.</a:t>
            </a:r>
            <a:endParaRPr lang="en-US" sz="1440" dirty="0"/>
          </a:p>
          <a:p>
            <a:pPr indent="0" marL="0">
              <a:buNone/>
            </a:pP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F4F7FF"/>
                </a:solidFill>
              </a:rPr>
              <a:t>6. Check for downstream access evidence in proxy, firewall, and DNS logs; here, the final report recorded none.</a:t>
            </a:r>
            <a:endParaRPr lang="en-US" sz="1440" dirty="0"/>
          </a:p>
          <a:p>
            <a:pPr indent="0" marL="0">
              <a:buNone/>
            </a:pP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F4F7FF"/>
                </a:solidFill>
              </a:rPr>
              <a:t>7. Classify the alert as true positive because delivery was confirmed.</a:t>
            </a:r>
            <a:endParaRPr lang="en-US" sz="1440" dirty="0"/>
          </a:p>
          <a:p>
            <a:pPr indent="0" marL="0">
              <a:buNone/>
            </a:pP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F4F7FF"/>
                </a:solidFill>
              </a:rPr>
              <a:t>8. Escalate for containment, recommend blocking and message removal, notify the user, and document closure rationale.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704088" y="6254496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A0AAC4"/>
                </a:solidFill>
              </a:rPr>
              <a:t>What solved the ticket: you proved the alert was real, showed that delivery occurred, and documented that there was no evidence of link execution or host compromise. That gave you a defensible closure.</a:t>
            </a:r>
            <a:endParaRPr lang="en-US" sz="13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8814 Incident Response Walkthrough</dc:title>
  <dc:subject>Incident response walkthrough for event ID 8814</dc:subject>
  <dc:creator>OpenAI</dc:creator>
  <cp:lastModifiedBy>OpenAI</cp:lastModifiedBy>
  <cp:revision>1</cp:revision>
  <dcterms:created xsi:type="dcterms:W3CDTF">2026-03-09T20:31:42Z</dcterms:created>
  <dcterms:modified xsi:type="dcterms:W3CDTF">2026-03-09T20:31:42Z</dcterms:modified>
</cp:coreProperties>
</file>